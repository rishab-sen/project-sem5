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715000" type="screen16x10"/>
  <p:notesSz cx="6858000" cy="9144000"/>
  <p:defaultTextStyle>
    <a:defPPr lvl="0">
      <a:defRPr lang="en-US"/>
    </a:defPPr>
    <a:lvl1pPr marL="0" lv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lvl="1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lvl="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lvl="3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lvl="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lvl="5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lvl="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lvl="7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lvl="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8E00D-7311-4969-A66C-0453707034C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87928-C04D-4652-A669-C2A1AB9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73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One-line pitch: teach a team of robots to carry one object together, entirely from learned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swarm transition as an industry trend (warehouse automation market growth, agri-bot fleets). Cooperative transport is the canonical swarm benchmark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centralized planning fails: the joint configuration space explodes combinatorially with agent count. Decentralized learned policies address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CTDE paradigm - centralized training, decentralized execution - as the key idea that makes MARL tractable, then map it onto deployment over ROS 2 / MQTT.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Justify the two-tier simulation: PettingZoo for fast RL iteration, Webots for physics fidelity before hardware. Domain randomization is the standard sim-to-real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Spend time on the reward function - it is the engineering heart of MARL. Show the trade-off: cohesion reward vs collision penalty vs goal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the demo protocol and metrics precisely so success is measurable, not anecdotal.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Industrial argument: every major warehouse-automation vendor is betting on decentralized fleets; agriculture is the second big adopter. The project demonstrates exactly the skills these industries recruit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explicit with the panel: the previously cited 'IEEE IoT Journal' and 'IEEE TCST' titles could not be verified and have been replaced with real, checkable publications - the Orr &amp; Dutta multi-robot MARL survey, the Yadav MARL survey, the MAPPO paper and QMIX.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10-week cadence; note that ablation studies (with vs without reward terms) give the report academic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Mechanical Engineering COEP Technological University, Pune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29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91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17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88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7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01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59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80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31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06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Mechanical Engineering COEP Technological University,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EE8947D2-93A8-47C2-9222-6685960D5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49" y="1448377"/>
            <a:ext cx="7886700" cy="340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6212" y="4666808"/>
            <a:ext cx="904875" cy="9525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5282" y="4794841"/>
            <a:ext cx="4333433" cy="696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Department of Mechanical Engineering</a:t>
            </a:r>
          </a:p>
          <a:p>
            <a:r>
              <a:rPr lang="en-IN" sz="2000" dirty="0"/>
              <a:t>COEP Technological University, Pune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497572"/>
            <a:ext cx="9144000" cy="169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79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935302"/>
            <a:ext cx="9144000" cy="1989667"/>
          </a:xfrm>
        </p:spPr>
        <p:txBody>
          <a:bodyPr>
            <a:normAutofit/>
          </a:bodyPr>
          <a:lstStyle/>
          <a:p>
            <a:r>
              <a:rPr dirty="0"/>
              <a:t>Multi-Agent Reinforcement Learning (MARL) for Cooperative Payload Transport &amp; Collision Avoidance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17406D"/>
                </a:solidFill>
                <a:latin typeface="Calibri"/>
              </a:rPr>
              <a:t>AI-ML Semester Project Proposal</a:t>
            </a:r>
          </a:p>
          <a:p>
            <a:pPr algn="ctr">
              <a:spcAft>
                <a:spcPts val="400"/>
              </a:spcAft>
            </a:pPr>
            <a:r>
              <a:rPr sz="1500">
                <a:solidFill>
                  <a:srgbClr val="17406D"/>
                </a:solidFill>
                <a:latin typeface="Calibri"/>
              </a:rPr>
              <a:t>Robotics &amp; Artificial Intelligence</a:t>
            </a:r>
          </a:p>
          <a:p>
            <a:pPr algn="ctr">
              <a:spcAft>
                <a:spcPts val="400"/>
              </a:spcAft>
            </a:pPr>
            <a:r>
              <a:rPr sz="1500">
                <a:solidFill>
                  <a:srgbClr val="17406D"/>
                </a:solidFill>
                <a:latin typeface="Calibri"/>
              </a:rPr>
              <a:t>Presented by: ____________________     Guide: Dr. S. S. Ohol</a:t>
            </a:r>
          </a:p>
          <a:p>
            <a:pPr algn="ctr">
              <a:spcAft>
                <a:spcPts val="400"/>
              </a:spcAft>
            </a:pPr>
            <a:r>
              <a:rPr sz="1500">
                <a:solidFill>
                  <a:srgbClr val="17406D"/>
                </a:solidFill>
                <a:latin typeface="Calibri"/>
              </a:rPr>
              <a:t>Course: Robotics &amp; AI, COEP Technological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Market Demand &amp; Industry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0" y="2651760"/>
            <a:ext cx="9036908" cy="210312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450" b="1" dirty="0">
                <a:solidFill>
                  <a:srgbClr val="17406D"/>
                </a:solidFill>
                <a:latin typeface="Calibri"/>
              </a:rPr>
              <a:t>Fulfillment centers and agricultural fields</a:t>
            </a:r>
            <a:r>
              <a:rPr sz="1450" dirty="0">
                <a:solidFill>
                  <a:srgbClr val="212121"/>
                </a:solidFill>
                <a:latin typeface="Calibri"/>
              </a:rPr>
              <a:t> are moving from single large machines to swarms of smaller collaborating rovers.</a:t>
            </a:r>
          </a:p>
          <a:p>
            <a:pPr>
              <a:spcAft>
                <a:spcPts val="800"/>
              </a:spcAft>
            </a:pPr>
            <a:r>
              <a:rPr sz="1450" b="1" dirty="0">
                <a:solidFill>
                  <a:srgbClr val="17406D"/>
                </a:solidFill>
                <a:latin typeface="Calibri"/>
              </a:rPr>
              <a:t>Why swarms win:</a:t>
            </a:r>
            <a:r>
              <a:rPr sz="1450" dirty="0">
                <a:solidFill>
                  <a:srgbClr val="212121"/>
                </a:solidFill>
                <a:latin typeface="Calibri"/>
              </a:rPr>
              <a:t> fault tolerance, scalability, lower per-unit cost and parallel operation.</a:t>
            </a:r>
          </a:p>
          <a:p>
            <a:pPr>
              <a:spcAft>
                <a:spcPts val="800"/>
              </a:spcAft>
            </a:pPr>
            <a:r>
              <a:rPr sz="1450" b="1" dirty="0">
                <a:solidFill>
                  <a:srgbClr val="17406D"/>
                </a:solidFill>
                <a:latin typeface="Calibri"/>
              </a:rPr>
              <a:t>Core cooperative task:</a:t>
            </a:r>
            <a:r>
              <a:rPr sz="1450" dirty="0">
                <a:solidFill>
                  <a:srgbClr val="212121"/>
                </a:solidFill>
                <a:latin typeface="Calibri"/>
              </a:rPr>
              <a:t> transporting heavy or irregular payloads that no single rover can move alone.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81328"/>
            <a:ext cx="2712719" cy="932688"/>
          </a:xfrm>
          <a:prstGeom prst="roundRect">
            <a:avLst>
              <a:gd name="adj" fmla="val 10000"/>
            </a:avLst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US$ 28 Bn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projected global warehouse-automation market by 2030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5639" y="1481328"/>
            <a:ext cx="2712719" cy="932688"/>
          </a:xfrm>
          <a:prstGeom prst="roundRect">
            <a:avLst>
              <a:gd name="adj" fmla="val 10000"/>
            </a:avLst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Swarm &gt; Single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fleet-of-rover architectures displace one-big-machine designs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65520" y="1481328"/>
            <a:ext cx="2712719" cy="932688"/>
          </a:xfrm>
          <a:prstGeom prst="roundRect">
            <a:avLst>
              <a:gd name="adj" fmla="val 10000"/>
            </a:avLst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2-4 Agents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validated cooperative scale for student-level MARL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The Engineering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0" y="1463040"/>
            <a:ext cx="8847438" cy="32004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Scalability failure: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traditional centralized path planners crash or freeze when scaling to multiple rovers in constrained, shared spaces.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Coupled constraints: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payload stability, inter-robot collision avoidance and communication delays must be solved simultaneously.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Objective: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decentralized cooperative control policies that scale with the number of agents.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Success criteria: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collision-free transport of a shared payload to the goal with stable formation tracking.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System Architecture &amp; AI/ML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hevron 3"/>
          <p:cNvSpPr/>
          <p:nvPr/>
        </p:nvSpPr>
        <p:spPr>
          <a:xfrm>
            <a:off x="384048" y="1517904"/>
            <a:ext cx="1675180" cy="731520"/>
          </a:xfrm>
          <a:prstGeom prst="chevron">
            <a:avLst/>
          </a:prstGeom>
          <a:solidFill>
            <a:srgbClr val="0F6FC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Sim Environment</a:t>
            </a:r>
          </a:p>
        </p:txBody>
      </p:sp>
      <p:sp>
        <p:nvSpPr>
          <p:cNvPr id="5" name="Chevron 4"/>
          <p:cNvSpPr/>
          <p:nvPr/>
        </p:nvSpPr>
        <p:spPr>
          <a:xfrm>
            <a:off x="2059228" y="1517904"/>
            <a:ext cx="1675180" cy="731520"/>
          </a:xfrm>
          <a:prstGeom prst="chevron">
            <a:avLst/>
          </a:prstGeom>
          <a:solidFill>
            <a:srgbClr val="17406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Multi-Agent Deep RL</a:t>
            </a:r>
          </a:p>
        </p:txBody>
      </p:sp>
      <p:sp>
        <p:nvSpPr>
          <p:cNvPr id="6" name="Chevron 5"/>
          <p:cNvSpPr/>
          <p:nvPr/>
        </p:nvSpPr>
        <p:spPr>
          <a:xfrm>
            <a:off x="3734408" y="1517904"/>
            <a:ext cx="1675180" cy="731520"/>
          </a:xfrm>
          <a:prstGeom prst="chevron">
            <a:avLst/>
          </a:prstGeom>
          <a:solidFill>
            <a:srgbClr val="0F6FC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Policy Training</a:t>
            </a:r>
          </a:p>
        </p:txBody>
      </p:sp>
      <p:sp>
        <p:nvSpPr>
          <p:cNvPr id="7" name="Chevron 6"/>
          <p:cNvSpPr/>
          <p:nvPr/>
        </p:nvSpPr>
        <p:spPr>
          <a:xfrm>
            <a:off x="5409588" y="1517904"/>
            <a:ext cx="1675180" cy="731520"/>
          </a:xfrm>
          <a:prstGeom prst="chevron">
            <a:avLst/>
          </a:prstGeom>
          <a:solidFill>
            <a:srgbClr val="17406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8" name="Chevron 7"/>
          <p:cNvSpPr/>
          <p:nvPr/>
        </p:nvSpPr>
        <p:spPr>
          <a:xfrm>
            <a:off x="7084768" y="1517904"/>
            <a:ext cx="1675180" cy="731520"/>
          </a:xfrm>
          <a:prstGeom prst="chevron">
            <a:avLst/>
          </a:prstGeom>
          <a:solidFill>
            <a:srgbClr val="0F6FC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ROS 2 / MQTT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487168"/>
            <a:ext cx="1997964" cy="1078992"/>
          </a:xfrm>
          <a:prstGeom prst="roundRect">
            <a:avLst>
              <a:gd name="adj" fmla="val 7000"/>
            </a:avLst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Webots / PettingZoo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2-4 rovers, shared-rig physics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0028" y="2487168"/>
            <a:ext cx="1997964" cy="1078992"/>
          </a:xfrm>
          <a:prstGeom prst="roundRect">
            <a:avLst>
              <a:gd name="adj" fmla="val 7000"/>
            </a:avLst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MAPPO / QMIX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CTDE: centralized critic, local actors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2487168"/>
            <a:ext cx="1997964" cy="1078992"/>
          </a:xfrm>
          <a:prstGeom prst="roundRect">
            <a:avLst>
              <a:gd name="adj" fmla="val 7000"/>
            </a:avLst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Reward Engineering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cohesion + stability - collisions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1988" y="2487168"/>
            <a:ext cx="1997964" cy="1078992"/>
          </a:xfrm>
          <a:prstGeom prst="roundRect">
            <a:avLst>
              <a:gd name="adj" fmla="val 7000"/>
            </a:avLst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Rover Policies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real-time NN inference on-board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Simulation &amp; Training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0" y="1463040"/>
            <a:ext cx="8452022" cy="32004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Platforms: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12121"/>
                </a:solidFill>
                <a:latin typeface="Calibri"/>
              </a:rPr>
              <a:t>Webots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or Gazebo for physics fidelity; </a:t>
            </a:r>
            <a:r>
              <a:rPr sz="1700" dirty="0" err="1">
                <a:solidFill>
                  <a:srgbClr val="212121"/>
                </a:solidFill>
                <a:latin typeface="Calibri"/>
              </a:rPr>
              <a:t>PyGame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/ </a:t>
            </a:r>
            <a:r>
              <a:rPr sz="1700" dirty="0" err="1">
                <a:solidFill>
                  <a:srgbClr val="212121"/>
                </a:solidFill>
                <a:latin typeface="Calibri"/>
              </a:rPr>
              <a:t>PettingZoo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for fast multi-agent iteration.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Agents: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2-4 differential-drive rovers trained jointly as a cooperative team.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Scenario design: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constrained shared spaces, irregular payloads and dynamic obstacles to stress-test coordination.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Sim-to-real: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domain randomization bridges the gap to physical differential-drive platforms.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Multi-Agent Deep RL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-1" y="1463040"/>
            <a:ext cx="7685903" cy="32004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Algorithm: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MAPPO (Multi-Agent PPO) or QMIX for value-factorized cooperation.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CTDE paradigm: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centralized training with a global-state critic; each rover acts only on local observations.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Observations: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local visual / proximity inputs - LiDAR-like ranges, relative goal vector, teammate poses.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Reward engineering: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cooperative rewards for distance maintenance, payload stability and goal attainment - penalized for collisions.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Execution &amp;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0" y="1463040"/>
            <a:ext cx="8452022" cy="32004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Real-time policies: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trained neural networks run in real time across simulated rovers.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Physical deployment: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optional differential-drive rovers communicating over ROS 2 / MQTT.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Demo tasks: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carry a shared rigid rig to a goal zone; execute cooperative spatial search grids.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Metrics: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success rate, collision count, path efficiency, payload tilt / stability.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Industrial Relevance - Why This Project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0" y="1463040"/>
            <a:ext cx="9144000" cy="3200400"/>
          </a:xfrm>
        </p:spPr>
        <p:txBody>
          <a:bodyPr wrap="square">
            <a:normAutofit lnSpcReduction="10000"/>
          </a:bodyPr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Warehouse logistics: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decentralized AMR fleets (Amazon Robotics, Geek+) already outperform centralized control at scale.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Precision agriculture: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swarms of small field robots for weeding, seeding and harvest-transport reduce soil compaction and cost.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Construction &amp; heavy payload: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cooperative lifting and transport replaces expensive custom heavy-AGVs.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Resilience: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a decentralized fleet degrades gracefully when one unit fails - centralized planners do not.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Skill alignment: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MARL, game theory and reward engineering are among the most in-demand robotics-AI skills.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Literature &amp; IEEE Keywords (Verified References)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0" y="1463040"/>
            <a:ext cx="9144000" cy="320040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350" b="1" dirty="0">
                <a:solidFill>
                  <a:srgbClr val="0F6FC6"/>
                </a:solidFill>
                <a:latin typeface="Calibri"/>
              </a:rPr>
              <a:t>[1]  </a:t>
            </a:r>
            <a:r>
              <a:rPr sz="1350" dirty="0">
                <a:solidFill>
                  <a:srgbClr val="212121"/>
                </a:solidFill>
                <a:latin typeface="Calibri"/>
              </a:rPr>
              <a:t>Orr, J., Dutta, A., "Multi-Agent Deep Reinforcement Learning for Multi-Robot Applications: A Survey," Sensors, vol. 23, no. 7, 3625, 2023.</a:t>
            </a:r>
          </a:p>
          <a:p>
            <a:pPr>
              <a:spcAft>
                <a:spcPts val="1000"/>
              </a:spcAft>
            </a:pPr>
            <a:r>
              <a:rPr sz="1350" b="1" dirty="0">
                <a:solidFill>
                  <a:srgbClr val="0F6FC6"/>
                </a:solidFill>
                <a:latin typeface="Calibri"/>
              </a:rPr>
              <a:t>[2]  </a:t>
            </a:r>
            <a:r>
              <a:rPr sz="1350" dirty="0">
                <a:solidFill>
                  <a:srgbClr val="212121"/>
                </a:solidFill>
                <a:latin typeface="Calibri"/>
              </a:rPr>
              <a:t>Yadav, P., et al., "A Comprehensive Survey on Multi-Agent Reinforcement Learning," Sensors, vol. 23, no. 10, 4710, 2023.</a:t>
            </a:r>
          </a:p>
          <a:p>
            <a:pPr>
              <a:spcAft>
                <a:spcPts val="1000"/>
              </a:spcAft>
            </a:pPr>
            <a:r>
              <a:rPr sz="1350" b="1" dirty="0">
                <a:solidFill>
                  <a:srgbClr val="0F6FC6"/>
                </a:solidFill>
                <a:latin typeface="Calibri"/>
              </a:rPr>
              <a:t>[3]  </a:t>
            </a:r>
            <a:r>
              <a:rPr sz="1350" dirty="0">
                <a:solidFill>
                  <a:srgbClr val="212121"/>
                </a:solidFill>
                <a:latin typeface="Calibri"/>
              </a:rPr>
              <a:t>Yu, C., et al., "The Surprising Effectiveness of PPO in Cooperative Multi-Agent Games," </a:t>
            </a:r>
            <a:r>
              <a:rPr sz="1350" dirty="0" err="1">
                <a:solidFill>
                  <a:srgbClr val="212121"/>
                </a:solidFill>
                <a:latin typeface="Calibri"/>
              </a:rPr>
              <a:t>NeurIPS</a:t>
            </a:r>
            <a:r>
              <a:rPr sz="1350" dirty="0">
                <a:solidFill>
                  <a:srgbClr val="212121"/>
                </a:solidFill>
                <a:latin typeface="Calibri"/>
              </a:rPr>
              <a:t> Deep RL Workshop, 2022 (MAPPO).</a:t>
            </a:r>
          </a:p>
          <a:p>
            <a:pPr>
              <a:spcAft>
                <a:spcPts val="1000"/>
              </a:spcAft>
            </a:pPr>
            <a:r>
              <a:rPr sz="1350" b="1" dirty="0">
                <a:solidFill>
                  <a:srgbClr val="0F6FC6"/>
                </a:solidFill>
                <a:latin typeface="Calibri"/>
              </a:rPr>
              <a:t>[4]  </a:t>
            </a:r>
            <a:r>
              <a:rPr sz="1350" dirty="0">
                <a:solidFill>
                  <a:srgbClr val="212121"/>
                </a:solidFill>
                <a:latin typeface="Calibri"/>
              </a:rPr>
              <a:t>Rashid, T., et al., "QMIX: Monotonic Value Function </a:t>
            </a:r>
            <a:r>
              <a:rPr sz="1350" dirty="0" err="1">
                <a:solidFill>
                  <a:srgbClr val="212121"/>
                </a:solidFill>
                <a:latin typeface="Calibri"/>
              </a:rPr>
              <a:t>Factorisation</a:t>
            </a:r>
            <a:r>
              <a:rPr sz="1350" dirty="0">
                <a:solidFill>
                  <a:srgbClr val="212121"/>
                </a:solidFill>
                <a:latin typeface="Calibri"/>
              </a:rPr>
              <a:t> for Deep Multi-Agent Reinforcement Learning," ICML, 2018.</a:t>
            </a:r>
          </a:p>
          <a:p>
            <a:r>
              <a:rPr sz="1350" b="1" dirty="0">
                <a:solidFill>
                  <a:srgbClr val="17406D"/>
                </a:solidFill>
                <a:latin typeface="Calibri"/>
              </a:rPr>
              <a:t>Keywords: </a:t>
            </a:r>
            <a:r>
              <a:rPr sz="1350" dirty="0">
                <a:solidFill>
                  <a:srgbClr val="212121"/>
                </a:solidFill>
                <a:latin typeface="Calibri"/>
              </a:rPr>
              <a:t>MARL, MAPPO, QMIX, CTDE, swarm robotics, cooperative transport, collision avoidance, decentralized control, ROS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Expected Outcomes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0" y="1463040"/>
            <a:ext cx="8814486" cy="32004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Phase 1 (Weeks 1-2):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MARL survey; select MAPPO vs QMIX; define reward functions.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Phase 2 (Weeks 3-5):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build </a:t>
            </a:r>
            <a:r>
              <a:rPr sz="1700" dirty="0" err="1">
                <a:solidFill>
                  <a:srgbClr val="212121"/>
                </a:solidFill>
                <a:latin typeface="Calibri"/>
              </a:rPr>
              <a:t>PettingZoo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/ </a:t>
            </a:r>
            <a:r>
              <a:rPr sz="1700" dirty="0" err="1">
                <a:solidFill>
                  <a:srgbClr val="212121"/>
                </a:solidFill>
                <a:latin typeface="Calibri"/>
              </a:rPr>
              <a:t>Webots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environment with shared-rig physics.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Phase 3 (Weeks 6-8):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train cooperative policies; tune hyper-parameters; ablation studies.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Phase 4 (Weeks 9-10):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real-time deployment demo (simulation or ROS 2 rovers); metrics report.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7406D"/>
                </a:solidFill>
                <a:latin typeface="Calibri"/>
              </a:rPr>
              <a:t>Deliverables:</a:t>
            </a:r>
            <a:r>
              <a:rPr sz="1700" dirty="0">
                <a:solidFill>
                  <a:srgbClr val="212121"/>
                </a:solidFill>
                <a:latin typeface="Calibri"/>
              </a:rPr>
              <a:t> trained MARL policy, collision-free transport demo, performance-metrics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17406D"/>
                </a:solidFill>
              </a:rPr>
              <a:t>Questions &amp; Discussion</a:t>
            </a:r>
          </a:p>
          <a:p>
            <a:pPr algn="ctr"/>
            <a:r>
              <a:rPr sz="1300">
                <a:solidFill>
                  <a:srgbClr val="595959"/>
                </a:solidFill>
              </a:rPr>
              <a:t>MARL for Cooperative Payload Transport &amp; Collision Avoidance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4791456"/>
            <a:ext cx="4334256" cy="694944"/>
          </a:xfrm>
          <a:prstGeom prst="rect">
            <a:avLst/>
          </a:prstGeom>
          <a:noFill/>
        </p:spPr>
        <p:txBody>
          <a:bodyPr wrap="square" tIns="12700" bIns="1270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Department of Mechanical Engineering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COEP Technological University, Pune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1167</Words>
  <Application>Microsoft Office PowerPoint</Application>
  <PresentationFormat>On-screen Show (16:10)</PresentationFormat>
  <Paragraphs>102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Multi-Agent Reinforcement Learning (MARL) for Cooperative Payload Transport &amp; Collision Avoidance</vt:lpstr>
      <vt:lpstr>Market Demand &amp; Industry Context</vt:lpstr>
      <vt:lpstr>The Engineering Problem</vt:lpstr>
      <vt:lpstr>System Architecture &amp; AI/ML Flow</vt:lpstr>
      <vt:lpstr>Simulation &amp; Training Environment</vt:lpstr>
      <vt:lpstr>Multi-Agent Deep RL Engine</vt:lpstr>
      <vt:lpstr>Execution &amp; Demonstration</vt:lpstr>
      <vt:lpstr>Industrial Relevance - Why This Project Matters</vt:lpstr>
      <vt:lpstr>Literature &amp; IEEE Keywords (Verified References)</vt:lpstr>
      <vt:lpstr>Expected Outcomes &amp; Roadmap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Reinforcement Learning (MARL) for Cooperative Payload Transport &amp; Collision Avoidance</dc:title>
  <dc:creator>Department of Mechanical Engineering, COEP Technological University</dc:creator>
  <cp:lastModifiedBy>Rishab Sen</cp:lastModifiedBy>
  <cp:revision>2</cp:revision>
  <dcterms:modified xsi:type="dcterms:W3CDTF">2026-09-23T15:28:46Z</dcterms:modified>
</cp:coreProperties>
</file>